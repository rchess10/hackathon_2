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4"/>
  </p:notesMasterIdLst>
  <p:sldIdLst>
    <p:sldId id="256" r:id="rId3"/>
    <p:sldId id="257" r:id="rId4"/>
    <p:sldId id="258" r:id="rId5"/>
    <p:sldId id="263" r:id="rId6"/>
    <p:sldId id="259" r:id="rId7"/>
    <p:sldId id="264" r:id="rId8"/>
    <p:sldId id="260" r:id="rId9"/>
    <p:sldId id="261" r:id="rId10"/>
    <p:sldId id="265" r:id="rId11"/>
    <p:sldId id="266" r:id="rId12"/>
    <p:sldId id="262" r:id="rId13"/>
  </p:sldIdLst>
  <p:sldSz cx="9144000" cy="5143500" type="screen16x9"/>
  <p:notesSz cx="6858000" cy="9144000"/>
  <p:embeddedFontLst>
    <p:embeddedFont>
      <p:font typeface="Oswald" panose="00000500000000000000" pitchFamily="2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EDA0F4-2B54-4DDF-B5E1-5606E146D595}" v="10" dt="2025-11-23T23:45:23.1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a04b60f42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a04b60f42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4111ca1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4111ca1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54111ca19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54111ca19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AA2A916B-845B-473C-F42F-1D3152590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4111ca197_0_10:notes">
            <a:extLst>
              <a:ext uri="{FF2B5EF4-FFF2-40B4-BE49-F238E27FC236}">
                <a16:creationId xmlns:a16="http://schemas.microsoft.com/office/drawing/2014/main" id="{5137E4AD-C6D7-4B87-119E-7A424A29A0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4111ca197_0_10:notes">
            <a:extLst>
              <a:ext uri="{FF2B5EF4-FFF2-40B4-BE49-F238E27FC236}">
                <a16:creationId xmlns:a16="http://schemas.microsoft.com/office/drawing/2014/main" id="{BFDA6372-64EF-6355-8CEE-C78BCD9B79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5729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4111ca19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4111ca19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BA31641F-EE67-EEAE-6B84-A9F9A9AA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4111ca197_0_10:notes">
            <a:extLst>
              <a:ext uri="{FF2B5EF4-FFF2-40B4-BE49-F238E27FC236}">
                <a16:creationId xmlns:a16="http://schemas.microsoft.com/office/drawing/2014/main" id="{FBAEB635-D2C5-0373-4A4D-99E5B66D40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4111ca197_0_10:notes">
            <a:extLst>
              <a:ext uri="{FF2B5EF4-FFF2-40B4-BE49-F238E27FC236}">
                <a16:creationId xmlns:a16="http://schemas.microsoft.com/office/drawing/2014/main" id="{B62F125C-614F-96A4-DFC3-B370C1259B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575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7d24c5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7d24c5f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34a06501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34a06501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4111ca19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4111ca19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lt2"/>
                </a:solidFill>
              </a:defRPr>
            </a:lvl1pPr>
            <a:lvl2pPr lvl="1" algn="r" rtl="0">
              <a:buNone/>
              <a:defRPr sz="1000">
                <a:solidFill>
                  <a:schemeClr val="lt2"/>
                </a:solidFill>
              </a:defRPr>
            </a:lvl2pPr>
            <a:lvl3pPr lvl="2" algn="r" rtl="0">
              <a:buNone/>
              <a:defRPr sz="1000">
                <a:solidFill>
                  <a:schemeClr val="lt2"/>
                </a:solidFill>
              </a:defRPr>
            </a:lvl3pPr>
            <a:lvl4pPr lvl="3" algn="r" rtl="0">
              <a:buNone/>
              <a:defRPr sz="1000">
                <a:solidFill>
                  <a:schemeClr val="lt2"/>
                </a:solidFill>
              </a:defRPr>
            </a:lvl4pPr>
            <a:lvl5pPr lvl="4" algn="r" rtl="0">
              <a:buNone/>
              <a:defRPr sz="1000">
                <a:solidFill>
                  <a:schemeClr val="lt2"/>
                </a:solidFill>
              </a:defRPr>
            </a:lvl5pPr>
            <a:lvl6pPr lvl="5" algn="r" rtl="0">
              <a:buNone/>
              <a:defRPr sz="1000">
                <a:solidFill>
                  <a:schemeClr val="lt2"/>
                </a:solidFill>
              </a:defRPr>
            </a:lvl6pPr>
            <a:lvl7pPr lvl="6" algn="r" rtl="0">
              <a:buNone/>
              <a:defRPr sz="1000">
                <a:solidFill>
                  <a:schemeClr val="lt2"/>
                </a:solidFill>
              </a:defRPr>
            </a:lvl7pPr>
            <a:lvl8pPr lvl="7" algn="r" rtl="0">
              <a:buNone/>
              <a:defRPr sz="1000">
                <a:solidFill>
                  <a:schemeClr val="lt2"/>
                </a:solidFill>
              </a:defRPr>
            </a:lvl8pPr>
            <a:lvl9pPr lvl="8" algn="r" rtl="0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0" y="2496725"/>
            <a:ext cx="9144000" cy="26469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1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5"/>
          <p:cNvSpPr txBox="1"/>
          <p:nvPr/>
        </p:nvSpPr>
        <p:spPr>
          <a:xfrm>
            <a:off x="4034750" y="1546400"/>
            <a:ext cx="1011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2532425" y="1342425"/>
            <a:ext cx="18567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2078975" y="2103800"/>
            <a:ext cx="40989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0" y="0"/>
            <a:ext cx="9144000" cy="24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Création d’un modèle de classification et de réponses contextuelles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  </a:t>
            </a:r>
            <a:r>
              <a:rPr lang="fr-FR" sz="25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Cécile, Romain, François</a:t>
            </a:r>
            <a:endParaRPr sz="25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4" name="Google Shape;10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1650" y="2865175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Classification de critiques de films et réponses contextuelles</a:t>
            </a:r>
            <a:endParaRPr dirty="0"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1"/>
          </p:nvPr>
        </p:nvSpPr>
        <p:spPr>
          <a:xfrm>
            <a:off x="156578" y="1593346"/>
            <a:ext cx="8520600" cy="2276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dirty="0"/>
              <a:t>Ce projet comprend deux parties:</a:t>
            </a:r>
          </a:p>
          <a:p>
            <a:pPr marL="742950" lvl="1" indent="-285750"/>
            <a:r>
              <a:rPr lang="fr-FR" sz="2000" dirty="0"/>
              <a:t>Classification d’un film en « bon » ou « mauvais » à partir d’une appréciation donnée</a:t>
            </a:r>
          </a:p>
          <a:p>
            <a:pPr marL="742950" lvl="1" indent="-285750"/>
            <a:r>
              <a:rPr lang="fr-FR" sz="2000" dirty="0"/>
              <a:t>Réponse contextuelle à une question posée sur un film</a:t>
            </a:r>
          </a:p>
        </p:txBody>
      </p:sp>
      <p:sp>
        <p:nvSpPr>
          <p:cNvPr id="4" name="Google Shape;110;p26">
            <a:extLst>
              <a:ext uri="{FF2B5EF4-FFF2-40B4-BE49-F238E27FC236}">
                <a16:creationId xmlns:a16="http://schemas.microsoft.com/office/drawing/2014/main" id="{2A6E396F-44DA-6FCC-466F-63AF889BEA04}"/>
              </a:ext>
            </a:extLst>
          </p:cNvPr>
          <p:cNvSpPr txBox="1">
            <a:spLocks/>
          </p:cNvSpPr>
          <p:nvPr/>
        </p:nvSpPr>
        <p:spPr>
          <a:xfrm>
            <a:off x="238220" y="3869871"/>
            <a:ext cx="8520600" cy="987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fr-FR" sz="2000" dirty="0"/>
              <a:t>A chaque fois on expliquera le choix du modèle, son entrainement, on prendra des exemples et on mesurera sa pertinence</a:t>
            </a:r>
          </a:p>
          <a:p>
            <a:pPr marL="742950" lvl="1" indent="-285750"/>
            <a:endParaRPr lang="fr-FR" sz="1800" dirty="0"/>
          </a:p>
          <a:p>
            <a:pPr marL="457200" lvl="1" indent="0">
              <a:buFont typeface="Arial"/>
              <a:buNone/>
            </a:pPr>
            <a:endParaRPr lang="fr-FR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582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dirty="0"/>
              <a:t>Deux outils nouveaux utilisés:</a:t>
            </a:r>
          </a:p>
          <a:p>
            <a:pPr marL="342900"/>
            <a:r>
              <a:rPr lang="fr-FR" sz="2400" dirty="0"/>
              <a:t>la sauvegarde et le téléchargement en vue d’une utilisation locale. Par exemple sur PC</a:t>
            </a:r>
          </a:p>
          <a:p>
            <a:pPr marL="342900"/>
            <a:r>
              <a:rPr lang="fr-FR" sz="2400" dirty="0"/>
              <a:t>secondairement, </a:t>
            </a:r>
          </a:p>
          <a:p>
            <a:pPr marL="800100" lvl="1"/>
            <a:r>
              <a:rPr lang="fr-FR" sz="2000" dirty="0"/>
              <a:t>petit module de synthèse vocale, </a:t>
            </a:r>
          </a:p>
          <a:p>
            <a:pPr marL="800100" lvl="1"/>
            <a:r>
              <a:rPr lang="fr-FR" sz="2000" dirty="0"/>
              <a:t>petit module de récupération de table des matières </a:t>
            </a:r>
            <a:r>
              <a:rPr lang="fr-FR" sz="2000" dirty="0" err="1"/>
              <a:t>Colab</a:t>
            </a:r>
            <a:endParaRPr sz="20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DCA5C691-D86D-A2ED-A400-9548E036E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>
            <a:extLst>
              <a:ext uri="{FF2B5EF4-FFF2-40B4-BE49-F238E27FC236}">
                <a16:creationId xmlns:a16="http://schemas.microsoft.com/office/drawing/2014/main" id="{2782CB4A-05C7-9A21-E3FE-1C711F5E63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236" y="18376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Features list</a:t>
            </a:r>
            <a:endParaRPr dirty="0"/>
          </a:p>
        </p:txBody>
      </p:sp>
      <p:sp>
        <p:nvSpPr>
          <p:cNvPr id="124" name="Google Shape;124;p28">
            <a:extLst>
              <a:ext uri="{FF2B5EF4-FFF2-40B4-BE49-F238E27FC236}">
                <a16:creationId xmlns:a16="http://schemas.microsoft.com/office/drawing/2014/main" id="{68C3B7E7-1D5D-1E5F-6DED-AF2CB6285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9236" y="756468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1. CLASSIFICATION DE SENTIMENTS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Modèle de base : </a:t>
            </a:r>
            <a:r>
              <a:rPr lang="fr-FR" dirty="0" err="1"/>
              <a:t>DistilBERT</a:t>
            </a:r>
            <a:r>
              <a:rPr lang="fr-FR" dirty="0"/>
              <a:t> (</a:t>
            </a:r>
            <a:r>
              <a:rPr lang="fr-FR" dirty="0" err="1"/>
              <a:t>distilbert</a:t>
            </a:r>
            <a:r>
              <a:rPr lang="fr-FR" dirty="0"/>
              <a:t>-base-</a:t>
            </a:r>
            <a:r>
              <a:rPr lang="fr-FR" dirty="0" err="1"/>
              <a:t>uncased</a:t>
            </a:r>
            <a:r>
              <a:rPr lang="fr-FR" dirty="0"/>
              <a:t>)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Technique : Fine-tuning avec </a:t>
            </a:r>
            <a:r>
              <a:rPr lang="fr-FR" dirty="0" err="1"/>
              <a:t>LoRA</a:t>
            </a:r>
            <a:r>
              <a:rPr lang="fr-FR" dirty="0"/>
              <a:t> (Low-Rank Adaptation)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Type : Classification binaire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</a:t>
            </a:r>
            <a:r>
              <a:rPr lang="fr-FR" dirty="0" err="1"/>
              <a:t>Dataset</a:t>
            </a:r>
            <a:r>
              <a:rPr lang="fr-FR" dirty="0"/>
              <a:t> : IMDB </a:t>
            </a:r>
            <a:r>
              <a:rPr lang="fr-FR" dirty="0" err="1"/>
              <a:t>Movie</a:t>
            </a:r>
            <a:r>
              <a:rPr lang="fr-FR" dirty="0"/>
              <a:t> </a:t>
            </a:r>
            <a:r>
              <a:rPr lang="fr-FR" dirty="0" err="1"/>
              <a:t>Reviews</a:t>
            </a:r>
            <a:endParaRPr lang="fr-FR" dirty="0"/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  * Entraînement : 10 000 échantillons (5 000 positives, 5 000 négatives)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  * Test : 2 000 échantillons (1 000 positives, 1 000 négatives)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Performance : 91,3% de précision, perte de validation : 0.2558</a:t>
            </a:r>
          </a:p>
          <a:p>
            <a:pPr marL="0" lvl="0" indent="0">
              <a:spcAft>
                <a:spcPts val="1600"/>
              </a:spcAft>
              <a:buNone/>
            </a:pPr>
            <a:endParaRPr lang="fr-FR" dirty="0"/>
          </a:p>
          <a:p>
            <a:pPr marL="0" lvl="0" indent="0">
              <a:spcAft>
                <a:spcPts val="1600"/>
              </a:spcAft>
              <a:buNone/>
            </a:pPr>
            <a:endParaRPr lang="fr-FR" dirty="0"/>
          </a:p>
          <a:p>
            <a:pPr marL="0" lvl="0" indent="0">
              <a:spcAft>
                <a:spcPts val="16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9710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311700" y="19193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Features list</a:t>
            </a:r>
            <a:endParaRPr dirty="0"/>
          </a:p>
        </p:txBody>
      </p:sp>
      <p:sp>
        <p:nvSpPr>
          <p:cNvPr id="124" name="Google Shape;124;p28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2. SYSTÈME RAG (RETRIEVAL-AUGMENTED GENERATION)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</a:t>
            </a:r>
            <a:r>
              <a:rPr lang="fr-FR" dirty="0" err="1"/>
              <a:t>Embeddings</a:t>
            </a:r>
            <a:r>
              <a:rPr lang="fr-FR" dirty="0"/>
              <a:t> : Sentence-BERT (sentence-</a:t>
            </a:r>
            <a:r>
              <a:rPr lang="fr-FR" dirty="0" err="1"/>
              <a:t>transformers</a:t>
            </a:r>
            <a:r>
              <a:rPr lang="fr-FR" dirty="0"/>
              <a:t>/all-MiniLM-L6-v2)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Recherche : k-</a:t>
            </a:r>
            <a:r>
              <a:rPr lang="fr-FR" dirty="0" err="1"/>
              <a:t>Nearest</a:t>
            </a:r>
            <a:r>
              <a:rPr lang="fr-FR" dirty="0"/>
              <a:t> Neighbors (</a:t>
            </a:r>
            <a:r>
              <a:rPr lang="fr-FR" dirty="0" err="1"/>
              <a:t>kNN</a:t>
            </a:r>
            <a:r>
              <a:rPr lang="fr-FR" dirty="0"/>
              <a:t>) avec similarité cosinus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Génération : Flan-T5 (google/flan-t5-base)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   - Corpus : 10 000 critiques de films IMDB</a:t>
            </a:r>
          </a:p>
          <a:p>
            <a:pPr marL="114300" indent="0">
              <a:buNone/>
            </a:pPr>
            <a:r>
              <a:rPr lang="fr-FR" dirty="0"/>
              <a:t>  - résultats sur 50 questions: </a:t>
            </a:r>
          </a:p>
          <a:p>
            <a:pPr marL="114300" indent="0">
              <a:buNone/>
            </a:pPr>
            <a:r>
              <a:rPr lang="fr-FR" dirty="0"/>
              <a:t>	longueur de réponse</a:t>
            </a:r>
            <a:r>
              <a:rPr lang="en-US" dirty="0"/>
              <a:t>: 27.8 words</a:t>
            </a:r>
          </a:p>
          <a:p>
            <a:pPr marL="114300" indent="0">
              <a:buNone/>
            </a:pPr>
            <a:r>
              <a:rPr lang="en-US" dirty="0"/>
              <a:t>	</a:t>
            </a:r>
            <a:r>
              <a:rPr lang="en-US" dirty="0" err="1"/>
              <a:t>Répétitions</a:t>
            </a:r>
            <a:r>
              <a:rPr lang="en-US" dirty="0"/>
              <a:t> de </a:t>
            </a:r>
            <a:r>
              <a:rPr lang="en-US" dirty="0" err="1"/>
              <a:t>réponses</a:t>
            </a:r>
            <a:r>
              <a:rPr lang="en-US" dirty="0"/>
              <a:t>: 0.0</a:t>
            </a:r>
          </a:p>
          <a:p>
            <a:pPr marL="114300" indent="0">
              <a:buNone/>
            </a:pPr>
            <a:r>
              <a:rPr lang="en-US" dirty="0"/>
              <a:t>	Moyenne de keywords </a:t>
            </a:r>
            <a:r>
              <a:rPr lang="en-US" dirty="0" err="1"/>
              <a:t>trouvés</a:t>
            </a:r>
            <a:r>
              <a:rPr lang="en-US" dirty="0"/>
              <a:t>: 0.5</a:t>
            </a:r>
          </a:p>
          <a:p>
            <a:pPr marL="114300" indent="0">
              <a:buNone/>
            </a:pPr>
            <a:r>
              <a:rPr lang="en-US" dirty="0"/>
              <a:t>	temps de </a:t>
            </a:r>
            <a:r>
              <a:rPr lang="en-US" dirty="0" err="1"/>
              <a:t>réponse</a:t>
            </a:r>
            <a:r>
              <a:rPr lang="en-US" dirty="0"/>
              <a:t> moyen: 1.09 seconds</a:t>
            </a:r>
          </a:p>
          <a:p>
            <a:pPr marL="0" lvl="0" indent="0"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3C70878A-FEF4-E4E5-BF0B-48F69F658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>
            <a:extLst>
              <a:ext uri="{FF2B5EF4-FFF2-40B4-BE49-F238E27FC236}">
                <a16:creationId xmlns:a16="http://schemas.microsoft.com/office/drawing/2014/main" id="{FADFAA63-8600-4DC5-C532-196745FFD4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9193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Features list</a:t>
            </a:r>
            <a:endParaRPr dirty="0"/>
          </a:p>
        </p:txBody>
      </p:sp>
      <p:sp>
        <p:nvSpPr>
          <p:cNvPr id="124" name="Google Shape;124;p28">
            <a:extLst>
              <a:ext uri="{FF2B5EF4-FFF2-40B4-BE49-F238E27FC236}">
                <a16:creationId xmlns:a16="http://schemas.microsoft.com/office/drawing/2014/main" id="{B4D5288B-FB2E-40B9-FA5D-2D81D7E135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2. SYSTÈME RAG (RETRIEVAL-AUGMENTED GENERATION)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fr-FR" dirty="0"/>
              <a:t>- résultats sur 50 questions: </a:t>
            </a:r>
          </a:p>
          <a:p>
            <a:pPr marL="114300" indent="0">
              <a:buNone/>
            </a:pPr>
            <a:r>
              <a:rPr lang="fr-FR" dirty="0"/>
              <a:t>	bonne clarté de la réponse</a:t>
            </a:r>
          </a:p>
          <a:p>
            <a:pPr marL="114300" indent="0">
              <a:buNone/>
            </a:pPr>
            <a:r>
              <a:rPr lang="fr-FR" dirty="0"/>
              <a:t>	longueur de réponse</a:t>
            </a:r>
            <a:r>
              <a:rPr lang="en-US" dirty="0"/>
              <a:t>: 27.8 words</a:t>
            </a:r>
          </a:p>
          <a:p>
            <a:pPr marL="114300" indent="0">
              <a:buNone/>
            </a:pPr>
            <a:r>
              <a:rPr lang="en-US" dirty="0"/>
              <a:t>	</a:t>
            </a:r>
            <a:r>
              <a:rPr lang="en-US" dirty="0" err="1"/>
              <a:t>Répétitions</a:t>
            </a:r>
            <a:r>
              <a:rPr lang="en-US" dirty="0"/>
              <a:t> de </a:t>
            </a:r>
            <a:r>
              <a:rPr lang="en-US" dirty="0" err="1"/>
              <a:t>réponses</a:t>
            </a:r>
            <a:r>
              <a:rPr lang="en-US" dirty="0"/>
              <a:t>: 0.0</a:t>
            </a:r>
          </a:p>
          <a:p>
            <a:pPr marL="114300" indent="0">
              <a:buNone/>
            </a:pPr>
            <a:r>
              <a:rPr lang="en-US" dirty="0"/>
              <a:t>	Moyenne de keywords </a:t>
            </a:r>
            <a:r>
              <a:rPr lang="en-US" dirty="0" err="1"/>
              <a:t>trouvés</a:t>
            </a:r>
            <a:r>
              <a:rPr lang="en-US" dirty="0"/>
              <a:t>: 0.5</a:t>
            </a:r>
          </a:p>
          <a:p>
            <a:pPr marL="114300" indent="0">
              <a:buNone/>
            </a:pPr>
            <a:r>
              <a:rPr lang="en-US" dirty="0"/>
              <a:t>	temps de </a:t>
            </a:r>
            <a:r>
              <a:rPr lang="en-US" dirty="0" err="1"/>
              <a:t>réponse</a:t>
            </a:r>
            <a:r>
              <a:rPr lang="en-US" dirty="0"/>
              <a:t> moyen: 1.09 seconds</a:t>
            </a:r>
          </a:p>
          <a:p>
            <a:pPr marL="114300" indent="0">
              <a:buNone/>
            </a:pPr>
            <a:r>
              <a:rPr lang="en-US" dirty="0"/>
              <a:t>	</a:t>
            </a:r>
          </a:p>
          <a:p>
            <a:pPr marL="114300" indent="0">
              <a:buNone/>
            </a:pPr>
            <a:r>
              <a:rPr lang="en-US" dirty="0"/>
              <a:t>-</a:t>
            </a:r>
            <a:r>
              <a:rPr lang="en-US" dirty="0" err="1"/>
              <a:t>résultats</a:t>
            </a:r>
            <a:r>
              <a:rPr lang="en-US" dirty="0"/>
              <a:t> de </a:t>
            </a:r>
            <a:r>
              <a:rPr lang="en-US" dirty="0" err="1"/>
              <a:t>robustesse</a:t>
            </a:r>
            <a:r>
              <a:rPr lang="en-US" dirty="0"/>
              <a:t> (questions </a:t>
            </a:r>
            <a:r>
              <a:rPr lang="en-US" dirty="0" err="1"/>
              <a:t>vagues</a:t>
            </a:r>
            <a:r>
              <a:rPr lang="en-US" dirty="0"/>
              <a:t>, </a:t>
            </a:r>
            <a:r>
              <a:rPr lang="en-US" dirty="0" err="1"/>
              <a:t>contradictoires</a:t>
            </a:r>
            <a:r>
              <a:rPr lang="en-US" dirty="0"/>
              <a:t>, </a:t>
            </a:r>
            <a:r>
              <a:rPr lang="en-US" dirty="0" err="1"/>
              <a:t>ou</a:t>
            </a:r>
            <a:r>
              <a:rPr lang="en-US" dirty="0"/>
              <a:t> sans rapport) </a:t>
            </a:r>
            <a:r>
              <a:rPr lang="en-US" dirty="0" err="1"/>
              <a:t>concluants</a:t>
            </a:r>
            <a:endParaRPr lang="en-US" dirty="0"/>
          </a:p>
          <a:p>
            <a:pPr marL="0" lvl="0" indent="0">
              <a:spcAft>
                <a:spcPts val="16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263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Difficulties you managed to overcome</a:t>
            </a: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29"/>
          <p:cNvSpPr txBox="1">
            <a:spLocks noGrp="1"/>
          </p:cNvSpPr>
          <p:nvPr>
            <p:ph type="body" idx="4294967295"/>
          </p:nvPr>
        </p:nvSpPr>
        <p:spPr>
          <a:xfrm>
            <a:off x="452225" y="3038661"/>
            <a:ext cx="8520600" cy="10189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fr-FR" dirty="0"/>
              <a:t>P</a:t>
            </a:r>
            <a:r>
              <a:rPr lang="en" dirty="0"/>
              <a:t>erformance obtenue des modèles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fr-FR" dirty="0"/>
              <a:t>C</a:t>
            </a:r>
            <a:r>
              <a:rPr lang="en" dirty="0"/>
              <a:t>larté du code</a:t>
            </a:r>
            <a:endParaRPr dirty="0"/>
          </a:p>
        </p:txBody>
      </p:sp>
      <p:sp>
        <p:nvSpPr>
          <p:cNvPr id="133" name="Google Shape;133;p29"/>
          <p:cNvSpPr txBox="1"/>
          <p:nvPr/>
        </p:nvSpPr>
        <p:spPr>
          <a:xfrm>
            <a:off x="311700" y="1999050"/>
            <a:ext cx="8295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What you are proud of during this hackathon (features or management)</a:t>
            </a: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4" name="Google Shape;134;p29"/>
          <p:cNvSpPr txBox="1">
            <a:spLocks noGrp="1"/>
          </p:cNvSpPr>
          <p:nvPr>
            <p:ph type="body" idx="4294967295"/>
          </p:nvPr>
        </p:nvSpPr>
        <p:spPr>
          <a:xfrm>
            <a:off x="311700" y="752875"/>
            <a:ext cx="8520600" cy="4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fr-FR" dirty="0"/>
              <a:t>P</a:t>
            </a:r>
            <a:r>
              <a:rPr lang="en" dirty="0"/>
              <a:t>as de difficulté très particulière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/>
        </p:nvSpPr>
        <p:spPr>
          <a:xfrm>
            <a:off x="227525" y="1846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SHOW your project via Colab  + results and visualization</a:t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30"/>
          <p:cNvSpPr txBox="1">
            <a:spLocks noGrp="1"/>
          </p:cNvSpPr>
          <p:nvPr>
            <p:ph type="title" idx="4294967295"/>
          </p:nvPr>
        </p:nvSpPr>
        <p:spPr>
          <a:xfrm>
            <a:off x="4654800" y="752875"/>
            <a:ext cx="426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4min max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42" name="Google Shape;142;p30"/>
          <p:cNvSpPr txBox="1"/>
          <p:nvPr/>
        </p:nvSpPr>
        <p:spPr>
          <a:xfrm>
            <a:off x="340550" y="2751375"/>
            <a:ext cx="7698000" cy="5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Time for questions from the class and the teacher :)</a:t>
            </a:r>
            <a:endParaRPr sz="24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43;p30"/>
          <p:cNvSpPr txBox="1">
            <a:spLocks noGrp="1"/>
          </p:cNvSpPr>
          <p:nvPr>
            <p:ph type="title" idx="4294967295"/>
          </p:nvPr>
        </p:nvSpPr>
        <p:spPr>
          <a:xfrm>
            <a:off x="4654800" y="3319575"/>
            <a:ext cx="426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Time of presentation : 2 to 5 min 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925" y="3301912"/>
            <a:ext cx="4829012" cy="1792381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1410918" y="612571"/>
            <a:ext cx="45353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>
                <a:solidFill>
                  <a:schemeClr val="tx1"/>
                </a:solidFill>
              </a:rPr>
              <a:t>→ Sauvegarde / téléchargement (notebook)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</a:rPr>
              <a:t>Modèle de classification 	</a:t>
            </a:r>
          </a:p>
          <a:p>
            <a:pPr marL="600075" lvl="1" indent="-257175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chemeClr val="tx1"/>
                </a:solidFill>
              </a:rPr>
              <a:t>RAG (Corpus, </a:t>
            </a:r>
            <a:r>
              <a:rPr lang="fr-FR" sz="1800" dirty="0" err="1">
                <a:solidFill>
                  <a:schemeClr val="tx1"/>
                </a:solidFill>
              </a:rPr>
              <a:t>embeddings</a:t>
            </a:r>
            <a:r>
              <a:rPr lang="fr-FR" sz="1800" dirty="0">
                <a:solidFill>
                  <a:schemeClr val="tx1"/>
                </a:solidFill>
              </a:rPr>
              <a:t>, générateur)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7908" y="184063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800" b="1" dirty="0">
                <a:solidFill>
                  <a:schemeClr val="tx1"/>
                </a:solidFill>
              </a:rPr>
              <a:t>CLI_interface.py</a:t>
            </a:r>
          </a:p>
        </p:txBody>
      </p:sp>
      <p:grpSp>
        <p:nvGrpSpPr>
          <p:cNvPr id="17" name="Groupe 16"/>
          <p:cNvGrpSpPr/>
          <p:nvPr/>
        </p:nvGrpSpPr>
        <p:grpSpPr>
          <a:xfrm>
            <a:off x="5928770" y="879839"/>
            <a:ext cx="1899667" cy="2059587"/>
            <a:chOff x="5941219" y="612279"/>
            <a:chExt cx="2532889" cy="2477535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 rotWithShape="1">
            <a:blip r:embed="rId3"/>
            <a:srcRect l="5521" r="9521" b="5415"/>
            <a:stretch/>
          </p:blipFill>
          <p:spPr>
            <a:xfrm>
              <a:off x="5941219" y="612279"/>
              <a:ext cx="2532888" cy="2477535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5964510" y="676656"/>
              <a:ext cx="2509598" cy="868680"/>
            </a:xfrm>
            <a:prstGeom prst="rect">
              <a:avLst/>
            </a:prstGeom>
            <a:solidFill>
              <a:srgbClr val="5B9BD5">
                <a:alpha val="28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964508" y="2450609"/>
              <a:ext cx="2509599" cy="621775"/>
            </a:xfrm>
            <a:prstGeom prst="rect">
              <a:avLst/>
            </a:prstGeom>
            <a:solidFill>
              <a:srgbClr val="5B9BD5">
                <a:alpha val="28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964507" y="1891664"/>
              <a:ext cx="2509600" cy="549784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2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/>
            </a:p>
          </p:txBody>
        </p:sp>
      </p:grpSp>
      <p:grpSp>
        <p:nvGrpSpPr>
          <p:cNvPr id="16" name="Groupe 15"/>
          <p:cNvGrpSpPr/>
          <p:nvPr/>
        </p:nvGrpSpPr>
        <p:grpSpPr>
          <a:xfrm>
            <a:off x="1473815" y="2045547"/>
            <a:ext cx="3837344" cy="991436"/>
            <a:chOff x="919780" y="2209023"/>
            <a:chExt cx="5783534" cy="1321914"/>
          </a:xfrm>
        </p:grpSpPr>
        <p:sp>
          <p:nvSpPr>
            <p:cNvPr id="14" name="Rectangle 13"/>
            <p:cNvSpPr/>
            <p:nvPr/>
          </p:nvSpPr>
          <p:spPr>
            <a:xfrm>
              <a:off x="919780" y="2209023"/>
              <a:ext cx="5566476" cy="1191838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2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05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068309" y="2299831"/>
              <a:ext cx="5635005" cy="12311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sz="1800" b="1" dirty="0">
                  <a:solidFill>
                    <a:schemeClr val="tx1"/>
                  </a:solidFill>
                </a:rPr>
                <a:t>→ Terminal :</a:t>
              </a:r>
            </a:p>
            <a:p>
              <a:pPr marL="557213" lvl="1" indent="-214313">
                <a:buFont typeface="Arial" panose="020B0604020202020204" pitchFamily="34" charset="0"/>
                <a:buChar char="•"/>
              </a:pPr>
              <a:r>
                <a:rPr lang="fr-FR" sz="1800" dirty="0" err="1">
                  <a:solidFill>
                    <a:schemeClr val="tx1"/>
                  </a:solidFill>
                </a:rPr>
                <a:t>Pip</a:t>
              </a:r>
              <a:r>
                <a:rPr lang="fr-FR" sz="1800" dirty="0">
                  <a:solidFill>
                    <a:schemeClr val="tx1"/>
                  </a:solidFill>
                </a:rPr>
                <a:t> </a:t>
              </a:r>
              <a:r>
                <a:rPr lang="fr-FR" sz="1800" dirty="0" err="1">
                  <a:solidFill>
                    <a:schemeClr val="tx1"/>
                  </a:solidFill>
                </a:rPr>
                <a:t>install</a:t>
              </a:r>
              <a:r>
                <a:rPr lang="fr-FR" sz="1800" dirty="0">
                  <a:solidFill>
                    <a:schemeClr val="tx1"/>
                  </a:solidFill>
                </a:rPr>
                <a:t> –r requirements.txt</a:t>
              </a:r>
            </a:p>
            <a:p>
              <a:pPr marL="557213" lvl="1" indent="-214313">
                <a:buFont typeface="Arial" panose="020B0604020202020204" pitchFamily="34" charset="0"/>
                <a:buChar char="•"/>
              </a:pPr>
              <a:r>
                <a:rPr lang="fr-FR" sz="1800" dirty="0">
                  <a:solidFill>
                    <a:schemeClr val="tx1"/>
                  </a:solidFill>
                </a:rPr>
                <a:t>python cli_interface.py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7513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/>
          <p:cNvGrpSpPr/>
          <p:nvPr/>
        </p:nvGrpSpPr>
        <p:grpSpPr>
          <a:xfrm>
            <a:off x="1483219" y="1331290"/>
            <a:ext cx="5795582" cy="1287896"/>
            <a:chOff x="337566" y="1668891"/>
            <a:chExt cx="7727442" cy="1717195"/>
          </a:xfrm>
        </p:grpSpPr>
        <p:pic>
          <p:nvPicPr>
            <p:cNvPr id="2" name="Image 1"/>
            <p:cNvPicPr>
              <a:picLocks noChangeAspect="1"/>
            </p:cNvPicPr>
            <p:nvPr/>
          </p:nvPicPr>
          <p:blipFill rotWithShape="1">
            <a:blip r:embed="rId2"/>
            <a:srcRect t="38353" b="12737"/>
            <a:stretch/>
          </p:blipFill>
          <p:spPr>
            <a:xfrm>
              <a:off x="337566" y="2837446"/>
              <a:ext cx="7727442" cy="548640"/>
            </a:xfrm>
            <a:prstGeom prst="rect">
              <a:avLst/>
            </a:prstGeom>
          </p:spPr>
        </p:pic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566" y="1668891"/>
              <a:ext cx="7727442" cy="1071970"/>
            </a:xfrm>
            <a:prstGeom prst="rect">
              <a:avLst/>
            </a:prstGeom>
          </p:spPr>
        </p:pic>
      </p:grpSp>
      <p:grpSp>
        <p:nvGrpSpPr>
          <p:cNvPr id="8" name="Groupe 7"/>
          <p:cNvGrpSpPr/>
          <p:nvPr/>
        </p:nvGrpSpPr>
        <p:grpSpPr>
          <a:xfrm>
            <a:off x="1472184" y="2992681"/>
            <a:ext cx="6035613" cy="1785504"/>
            <a:chOff x="236980" y="3661057"/>
            <a:chExt cx="8047484" cy="2380672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1694" y="3661057"/>
              <a:ext cx="8032770" cy="1817744"/>
            </a:xfrm>
            <a:prstGeom prst="rect">
              <a:avLst/>
            </a:prstGeom>
          </p:spPr>
        </p:pic>
        <p:pic>
          <p:nvPicPr>
            <p:cNvPr id="5" name="Image 4"/>
            <p:cNvPicPr>
              <a:picLocks noChangeAspect="1"/>
            </p:cNvPicPr>
            <p:nvPr/>
          </p:nvPicPr>
          <p:blipFill rotWithShape="1">
            <a:blip r:embed="rId5"/>
            <a:srcRect t="73488" r="2530"/>
            <a:stretch/>
          </p:blipFill>
          <p:spPr>
            <a:xfrm>
              <a:off x="236980" y="5575386"/>
              <a:ext cx="8047484" cy="466343"/>
            </a:xfrm>
            <a:prstGeom prst="rect">
              <a:avLst/>
            </a:prstGeom>
          </p:spPr>
        </p:pic>
      </p:grpSp>
      <p:sp>
        <p:nvSpPr>
          <p:cNvPr id="6" name="ZoneTexte 5"/>
          <p:cNvSpPr txBox="1"/>
          <p:nvPr/>
        </p:nvSpPr>
        <p:spPr>
          <a:xfrm>
            <a:off x="1472184" y="417529"/>
            <a:ext cx="58841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100" dirty="0">
                <a:solidFill>
                  <a:schemeClr val="tx1"/>
                </a:solidFill>
              </a:rPr>
              <a:t>Exemples : réponses variables à une même question</a:t>
            </a:r>
          </a:p>
        </p:txBody>
      </p:sp>
    </p:spTree>
    <p:extLst>
      <p:ext uri="{BB962C8B-B14F-4D97-AF65-F5344CB8AC3E}">
        <p14:creationId xmlns:p14="http://schemas.microsoft.com/office/powerpoint/2010/main" val="2212361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</a:t>
            </a:r>
            <a:endParaRPr/>
          </a:p>
        </p:txBody>
      </p:sp>
      <p:sp>
        <p:nvSpPr>
          <p:cNvPr id="149" name="Google Shape;149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link (PUBLIC REPO)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2-mn video link (CAN BE 3 or 4 minutes max) - from LOOM or Google Drive (must be public) →</a:t>
            </a:r>
            <a:r>
              <a:rPr lang="en" i="1">
                <a:solidFill>
                  <a:srgbClr val="FF00FF"/>
                </a:solidFill>
              </a:rPr>
              <a:t> to do during the weekend only</a:t>
            </a:r>
            <a:endParaRPr i="1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Microsoft Office PowerPoint</Application>
  <PresentationFormat>Affichage à l'écran (16:9)</PresentationFormat>
  <Paragraphs>72</Paragraphs>
  <Slides>11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Calibri</vt:lpstr>
      <vt:lpstr>Oswald</vt:lpstr>
      <vt:lpstr>Arial</vt:lpstr>
      <vt:lpstr>Simple Dark</vt:lpstr>
      <vt:lpstr>Simple Dark</vt:lpstr>
      <vt:lpstr>Présentation PowerPoint</vt:lpstr>
      <vt:lpstr>Classification de critiques de films et réponses contextuelles</vt:lpstr>
      <vt:lpstr>Stack</vt:lpstr>
      <vt:lpstr>Features list</vt:lpstr>
      <vt:lpstr>Features list</vt:lpstr>
      <vt:lpstr>Features list</vt:lpstr>
      <vt:lpstr>Présentation PowerPoint</vt:lpstr>
      <vt:lpstr>Time of presentation : 4min max</vt:lpstr>
      <vt:lpstr>Présentation PowerPoint</vt:lpstr>
      <vt:lpstr>Présentation PowerPoint</vt:lpstr>
      <vt:lpstr>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Francois Neveu (extern)</dc:creator>
  <cp:lastModifiedBy>Francois Neveu</cp:lastModifiedBy>
  <cp:revision>1</cp:revision>
  <dcterms:modified xsi:type="dcterms:W3CDTF">2025-11-23T23:53:06Z</dcterms:modified>
</cp:coreProperties>
</file>